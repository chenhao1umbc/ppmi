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/>
        </p:nvSpPr>
        <p:spPr>
          <a:xfrm>
            <a:off x="1744549" y="1560450"/>
            <a:ext cx="6224401" cy="1616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b="1" sz="3300"/>
            </a:lvl1pPr>
          </a:lstStyle>
          <a:p>
            <a:pPr/>
            <a:r>
              <a:t>AI Models for Parkinson Classification using PPMI dataset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59;p14"/>
          <p:cNvSpPr txBox="1"/>
          <p:nvPr/>
        </p:nvSpPr>
        <p:spPr>
          <a:xfrm>
            <a:off x="537874" y="630299"/>
            <a:ext cx="7983002" cy="3971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b="1" sz="2000"/>
            </a:pPr>
            <a:r>
              <a:t>                Model  Train Sensitivity  Train Specificity  Train ROC AUC  \</a:t>
            </a:r>
          </a:p>
          <a:p>
            <a:pPr>
              <a:defRPr b="1" sz="2000"/>
            </a:pPr>
            <a:r>
              <a:t>0  Logistic Regression            0.90625               0.95       0.970693   </a:t>
            </a:r>
          </a:p>
          <a:p>
            <a:pPr>
              <a:defRPr b="1" sz="2000"/>
            </a:pPr>
            <a:r>
              <a:t>1        Random Forest            1.00000               1.00       1.000000   </a:t>
            </a:r>
          </a:p>
          <a:p>
            <a:pPr/>
            <a:endParaRPr b="1" sz="2000"/>
          </a:p>
          <a:p>
            <a:pPr>
              <a:defRPr b="1" sz="2000"/>
            </a:pPr>
            <a:r>
              <a:t>   Train Accuracy  Test Sensitivity  Test Specificity  Test ROC AUC  \</a:t>
            </a:r>
          </a:p>
          <a:p>
            <a:pPr>
              <a:defRPr b="1" sz="2000"/>
            </a:pPr>
            <a:r>
              <a:t>0        0.928125            0.8625            0.8875      0.948594   </a:t>
            </a:r>
          </a:p>
          <a:p>
            <a:pPr>
              <a:defRPr b="1" sz="2000"/>
            </a:pPr>
            <a:r>
              <a:t>1        </a:t>
            </a:r>
            <a:r>
              <a:rPr>
                <a:solidFill>
                  <a:srgbClr val="FF0000"/>
                </a:solidFill>
              </a:rPr>
              <a:t>1.000000            1.0000            0.9875      1.000000   </a:t>
            </a:r>
            <a:endParaRPr>
              <a:solidFill>
                <a:srgbClr val="FF0000"/>
              </a:solidFill>
            </a:endParaRPr>
          </a:p>
          <a:p>
            <a:pPr/>
            <a:endParaRPr b="1" sz="2000"/>
          </a:p>
          <a:p>
            <a:pPr>
              <a:defRPr b="1" sz="2000"/>
            </a:pPr>
            <a:r>
              <a:t>   Test Accuracy  </a:t>
            </a:r>
          </a:p>
          <a:p>
            <a:pPr>
              <a:defRPr b="1" sz="2000"/>
            </a:pPr>
            <a:r>
              <a:t>0        0.87500  </a:t>
            </a:r>
          </a:p>
          <a:p>
            <a:pPr>
              <a:defRPr b="1" sz="2000">
                <a:solidFill>
                  <a:srgbClr val="FF0000"/>
                </a:solidFill>
              </a:defRPr>
            </a:pPr>
            <a:r>
              <a:t>1        0.99375  </a:t>
            </a:r>
          </a:p>
        </p:txBody>
      </p:sp>
      <p:sp>
        <p:nvSpPr>
          <p:cNvPr id="112" name="Google Shape;60;p14"/>
          <p:cNvSpPr txBox="1"/>
          <p:nvPr/>
        </p:nvSpPr>
        <p:spPr>
          <a:xfrm>
            <a:off x="5928650" y="4486550"/>
            <a:ext cx="3000001" cy="589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lnSpc>
                <a:spcPct val="95000"/>
              </a:lnSpc>
              <a:spcBef>
                <a:spcPts val="1200"/>
              </a:spcBef>
              <a:defRPr b="1" sz="19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With </a:t>
            </a:r>
            <a:r>
              <a:rPr sz="2700">
                <a:latin typeface="Roboto"/>
                <a:ea typeface="Roboto"/>
                <a:cs typeface="Roboto"/>
                <a:sym typeface="Roboto"/>
              </a:rPr>
              <a:t>MSEADL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Google Shape;65;p15"/>
          <p:cNvGraphicFramePr/>
          <p:nvPr/>
        </p:nvGraphicFramePr>
        <p:xfrm>
          <a:off x="1289900" y="1712674"/>
          <a:ext cx="6487175" cy="762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86950"/>
                <a:gridCol w="2099225"/>
                <a:gridCol w="1763925"/>
                <a:gridCol w="1137075"/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Metric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Without MSEADLG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With MSEADLG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Δ (Change)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Accuracy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0.88125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–0.00625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Sensitivity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0.8625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–0.025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Specificity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0.8875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+0.0125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5" name="Google Shape;66;p15"/>
          <p:cNvSpPr txBox="1"/>
          <p:nvPr/>
        </p:nvSpPr>
        <p:spPr>
          <a:xfrm>
            <a:off x="657524" y="725612"/>
            <a:ext cx="3000002" cy="478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b="1" sz="2100"/>
            </a:lvl1pPr>
          </a:lstStyle>
          <a:p>
            <a:pPr/>
            <a:r>
              <a:t>Logistic Regression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71;p16"/>
          <p:cNvGraphicFramePr/>
          <p:nvPr/>
        </p:nvGraphicFramePr>
        <p:xfrm>
          <a:off x="1554424" y="2007524"/>
          <a:ext cx="6337227" cy="103302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52575"/>
                <a:gridCol w="2050700"/>
                <a:gridCol w="1723150"/>
                <a:gridCol w="1110800"/>
              </a:tblGrid>
              <a:tr h="4615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Metric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Without MSEADLG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With MSEADLG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800"/>
                      </a:pPr>
                      <a:r>
                        <a:rPr b="1" sz="1100"/>
                        <a:t>Δ (Change)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Accuracy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0.9875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0.99375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+0.00625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Sensitivity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0.975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1.000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+0.025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Test Specificity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1.000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0.9875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/>
                        <a:t>–0.0125</a:t>
                      </a:r>
                    </a:p>
                  </a:txBody>
                  <a:tcPr marL="91425" marR="91425" marT="91425" marB="91425" anchor="t" anchorCtr="0" horzOverflow="overflow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8" name="Google Shape;72;p16"/>
          <p:cNvSpPr txBox="1"/>
          <p:nvPr/>
        </p:nvSpPr>
        <p:spPr>
          <a:xfrm>
            <a:off x="1213024" y="934647"/>
            <a:ext cx="3000002" cy="454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b="1" sz="1900"/>
            </a:lvl1pPr>
          </a:lstStyle>
          <a:p>
            <a:pPr/>
            <a:r>
              <a:t>Random Forest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77;p17"/>
          <p:cNvSpPr txBox="1"/>
          <p:nvPr>
            <p:ph type="body" idx="1"/>
          </p:nvPr>
        </p:nvSpPr>
        <p:spPr>
          <a:xfrm>
            <a:off x="311699" y="79350"/>
            <a:ext cx="8520602" cy="49848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400">
                <a:solidFill>
                  <a:srgbClr val="000000"/>
                </a:solidFill>
              </a:defRPr>
            </a:pPr>
            <a:r>
              <a:t>  Results:</a:t>
            </a:r>
          </a:p>
          <a:p>
            <a:pPr marL="0" indent="0">
              <a:spcBef>
                <a:spcPts val="1200"/>
              </a:spcBef>
              <a:buSzTx/>
              <a:buNone/>
              <a:defRPr sz="2400">
                <a:solidFill>
                  <a:srgbClr val="000000"/>
                </a:solidFill>
              </a:defRPr>
            </a:pPr>
            <a:r>
              <a:t>	1, urate is importance feature, but it only can useful in classifying SWEDD and PD. </a:t>
            </a:r>
          </a:p>
          <a:p>
            <a:pPr marL="0" indent="0">
              <a:spcBef>
                <a:spcPts val="1200"/>
              </a:spcBef>
              <a:buSzTx/>
              <a:buNone/>
              <a:defRPr sz="2600">
                <a:solidFill>
                  <a:srgbClr val="000000"/>
                </a:solidFill>
              </a:defRPr>
            </a:pPr>
            <a:r>
              <a:t>	2, </a:t>
            </a:r>
            <a:r>
              <a:rPr sz="2400">
                <a:latin typeface="Roboto"/>
                <a:ea typeface="Roboto"/>
                <a:cs typeface="Roboto"/>
                <a:sym typeface="Roboto"/>
              </a:rPr>
              <a:t>MSEADL is important feature, but </a:t>
            </a:r>
            <a:r>
              <a:rPr sz="2400"/>
              <a:t>yet potentially misinterpreted feature with medium value with come edge cases.</a:t>
            </a:r>
            <a:endParaRPr sz="2400"/>
          </a:p>
          <a:p>
            <a:pPr marL="0" indent="0">
              <a:spcBef>
                <a:spcPts val="1200"/>
              </a:spcBef>
              <a:buSzTx/>
              <a:buNone/>
              <a:defRPr sz="2400">
                <a:solidFill>
                  <a:srgbClr val="000000"/>
                </a:solidFill>
              </a:defRPr>
            </a:pPr>
            <a:r>
              <a:t>      3. List all the top 10 important features with feature/label drift detection solutions: </a:t>
            </a:r>
            <a:r>
              <a:rPr>
                <a:solidFill>
                  <a:srgbClr val="FF0000"/>
                </a:solidFill>
              </a:rPr>
              <a:t>upsit, mseadl, etc.</a:t>
            </a:r>
            <a:endParaRPr>
              <a:solidFill>
                <a:srgbClr val="FF0000"/>
              </a:solidFill>
            </a:endParaRPr>
          </a:p>
          <a:p>
            <a:pPr marL="0" indent="0">
              <a:spcBef>
                <a:spcPts val="1200"/>
              </a:spcBef>
              <a:buSzTx/>
              <a:buNone/>
              <a:defRPr sz="2400">
                <a:solidFill>
                  <a:srgbClr val="000000"/>
                </a:solidFill>
              </a:defRPr>
            </a:pPr>
            <a:r>
              <a:t>      4, Visit-based model, the </a:t>
            </a:r>
            <a:r>
              <a:rPr b="1">
                <a:solidFill>
                  <a:srgbClr val="FF0000"/>
                </a:solidFill>
              </a:rPr>
              <a:t>Visit 06, 08, 10</a:t>
            </a:r>
            <a:r>
              <a:t> has almost 99% accuracy in 3-label prediction. Not a simple 2 label prediction.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82;p18"/>
          <p:cNvSpPr txBox="1"/>
          <p:nvPr>
            <p:ph type="body" sz="quarter" idx="1"/>
          </p:nvPr>
        </p:nvSpPr>
        <p:spPr>
          <a:xfrm>
            <a:off x="381449" y="1109724"/>
            <a:ext cx="8520602" cy="951902"/>
          </a:xfrm>
          <a:prstGeom prst="rect">
            <a:avLst/>
          </a:prstGeom>
        </p:spPr>
        <p:txBody>
          <a:bodyPr/>
          <a:lstStyle/>
          <a:p>
            <a:pPr marL="0" indent="0" defTabSz="777240">
              <a:buSzTx/>
              <a:buNone/>
              <a:defRPr sz="2040">
                <a:solidFill>
                  <a:srgbClr val="000000"/>
                </a:solidFill>
              </a:defRPr>
            </a:pPr>
            <a:r>
              <a:t>  </a:t>
            </a:r>
          </a:p>
          <a:p>
            <a:pPr marL="0" indent="0" defTabSz="777240">
              <a:spcBef>
                <a:spcPts val="1000"/>
              </a:spcBef>
              <a:buSzTx/>
              <a:buNone/>
              <a:defRPr sz="2040">
                <a:solidFill>
                  <a:srgbClr val="000000"/>
                </a:solidFill>
              </a:defRPr>
            </a:pPr>
            <a:r>
              <a:t>     V06:  training accuracy can go to 100% </a:t>
            </a:r>
          </a:p>
        </p:txBody>
      </p:sp>
      <p:sp>
        <p:nvSpPr>
          <p:cNvPr id="123" name="Google Shape;83;p18"/>
          <p:cNvSpPr txBox="1"/>
          <p:nvPr/>
        </p:nvSpPr>
        <p:spPr>
          <a:xfrm>
            <a:off x="833399" y="2248524"/>
            <a:ext cx="7477202" cy="236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2000">
                <a:solidFill>
                  <a:srgbClr val="FF0000"/>
                </a:solidFill>
              </a:defRPr>
            </a:pPr>
            <a:r>
              <a:t>V06: Test Accuracy: 0.975</a:t>
            </a:r>
          </a:p>
          <a:p>
            <a:pPr/>
            <a:endParaRPr sz="2000">
              <a:solidFill>
                <a:srgbClr val="FF0000"/>
              </a:solidFill>
            </a:endParaRPr>
          </a:p>
          <a:p>
            <a:pPr>
              <a:defRPr sz="2000">
                <a:solidFill>
                  <a:srgbClr val="FF0000"/>
                </a:solidFill>
              </a:defRPr>
            </a:pPr>
            <a:r>
              <a:t>V08:</a:t>
            </a:r>
            <a:r>
              <a:rPr sz="2500"/>
              <a:t> </a:t>
            </a:r>
            <a:r>
              <a:rPr sz="2200"/>
              <a:t>Test Accuracy: 0.9666666666666667</a:t>
            </a:r>
            <a:endParaRPr sz="2500"/>
          </a:p>
          <a:p>
            <a:pPr/>
            <a:endParaRPr sz="2000">
              <a:solidFill>
                <a:srgbClr val="FF0000"/>
              </a:solidFill>
            </a:endParaRPr>
          </a:p>
          <a:p>
            <a:pPr>
              <a:defRPr sz="2000">
                <a:solidFill>
                  <a:srgbClr val="FF0000"/>
                </a:solidFill>
              </a:defRPr>
            </a:pPr>
            <a:r>
              <a:t>V10： 0.9944</a:t>
            </a:r>
          </a:p>
          <a:p>
            <a:pPr/>
            <a:endParaRPr sz="2000">
              <a:solidFill>
                <a:srgbClr val="FF0000"/>
              </a:solidFill>
            </a:endParaRPr>
          </a:p>
        </p:txBody>
      </p:sp>
      <p:sp>
        <p:nvSpPr>
          <p:cNvPr id="124" name="Google Shape;84;p18"/>
          <p:cNvSpPr txBox="1"/>
          <p:nvPr/>
        </p:nvSpPr>
        <p:spPr>
          <a:xfrm>
            <a:off x="833399" y="427174"/>
            <a:ext cx="6637202" cy="118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>
              <a:lnSpc>
                <a:spcPct val="95000"/>
              </a:lnSpc>
              <a:defRPr sz="2500"/>
            </a:pPr>
            <a:r>
              <a:t>Test Accuracy:  </a:t>
            </a:r>
          </a:p>
          <a:p>
            <a:pPr>
              <a:lnSpc>
                <a:spcPct val="95000"/>
              </a:lnSpc>
              <a:spcBef>
                <a:spcPts val="1200"/>
              </a:spcBef>
              <a:defRPr sz="2500"/>
            </a:pPr>
            <a:r>
              <a:t>V:04: 0.8458333333333333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89;p19"/>
          <p:cNvSpPr txBox="1"/>
          <p:nvPr>
            <p:ph type="body" idx="1"/>
          </p:nvPr>
        </p:nvSpPr>
        <p:spPr>
          <a:xfrm>
            <a:off x="1613499" y="422399"/>
            <a:ext cx="6637202" cy="429870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5000"/>
              </a:lnSpc>
              <a:buSzTx/>
              <a:buNone/>
            </a:pPr>
            <a:endParaRPr sz="1300">
              <a:solidFill>
                <a:srgbClr val="000000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</a:pPr>
            <a:endParaRPr sz="1300">
              <a:solidFill>
                <a:srgbClr val="000000"/>
              </a:solidFill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300">
                <a:solidFill>
                  <a:srgbClr val="000000"/>
                </a:solidFill>
              </a:defRPr>
            </a:pPr>
            <a:r>
              <a:t> </a:t>
            </a:r>
            <a:r>
              <a:rPr sz="1900"/>
              <a:t>   accuracy                           0.98       960</a:t>
            </a:r>
            <a:endParaRPr sz="1900"/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   macro avg       0.98      0.98      0.98       960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weighted avg       0.98      0.98      0.98       960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Confusion Matrix (Train):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...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[ 5 58 17]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000000"/>
                </a:solidFill>
              </a:defRPr>
            </a:pPr>
            <a:r>
              <a:t> [ 7  7 66]]</a:t>
            </a:r>
          </a:p>
          <a:p>
            <a:pPr marL="0" indent="0">
              <a:lnSpc>
                <a:spcPct val="95000"/>
              </a:lnSpc>
              <a:spcBef>
                <a:spcPts val="1200"/>
              </a:spcBef>
              <a:buSzTx/>
              <a:buNone/>
              <a:defRPr sz="1900">
                <a:solidFill>
                  <a:srgbClr val="FF0000"/>
                </a:solidFill>
              </a:defRPr>
            </a:pPr>
            <a:r>
              <a:t>Test Accuracy: 0.7875 = 80%</a:t>
            </a:r>
          </a:p>
        </p:txBody>
      </p:sp>
      <p:sp>
        <p:nvSpPr>
          <p:cNvPr id="127" name="Google Shape;90;p19"/>
          <p:cNvSpPr txBox="1"/>
          <p:nvPr/>
        </p:nvSpPr>
        <p:spPr>
          <a:xfrm>
            <a:off x="448274" y="292199"/>
            <a:ext cx="8520602" cy="951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>
              <a:lnSpc>
                <a:spcPct val="115000"/>
              </a:lnSpc>
              <a:spcBef>
                <a:spcPts val="1200"/>
              </a:spcBef>
              <a:defRPr b="1" sz="2400"/>
            </a:lvl1pPr>
          </a:lstStyle>
          <a:p>
            <a:pPr/>
            <a:r>
              <a:t>  Baseline records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